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Consolas" panose="020B0609020204030204" pitchFamily="49" charset="0"/>
      <p:regular r:id="rId13"/>
      <p:bold r:id="rId14"/>
      <p:italic r:id="rId15"/>
      <p:boldItalic r:id="rId16"/>
    </p:embeddedFont>
    <p:embeddedFont>
      <p:font typeface="Open Sans" panose="020B0606030504020204" pitchFamily="34" charset="0"/>
      <p:regular r:id="rId17"/>
    </p:embeddedFont>
    <p:embeddedFont>
      <p:font typeface="Open Sans Bold" panose="020B0604020202020204" charset="0"/>
      <p:regular r:id="rId18"/>
    </p:embeddedFont>
    <p:embeddedFont>
      <p:font typeface="Unbounded Bold" panose="020B0604020202020204" charset="0"/>
      <p:regular r:id="rId19"/>
    </p:embeddedFont>
    <p:embeddedFont>
      <p:font typeface="Unbounded Light"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9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8333"/>
          <a:stretch>
            <a:fillRect/>
          </a:stretch>
        </p:blipFill>
        <p:spPr>
          <a:xfrm>
            <a:off x="123974" y="420459"/>
            <a:ext cx="3429000" cy="4200525"/>
          </a:xfrm>
          <a:prstGeom prst="rect">
            <a:avLst/>
          </a:prstGeom>
        </p:spPr>
      </p:pic>
      <p:sp>
        <p:nvSpPr>
          <p:cNvPr id="3" name="Shape 0"/>
          <p:cNvSpPr/>
          <p:nvPr/>
        </p:nvSpPr>
        <p:spPr>
          <a:xfrm>
            <a:off x="3925119" y="1520651"/>
            <a:ext cx="1066354" cy="266402"/>
          </a:xfrm>
          <a:prstGeom prst="roundRect">
            <a:avLst>
              <a:gd name="adj" fmla="val 17880"/>
            </a:avLst>
          </a:prstGeom>
          <a:solidFill>
            <a:srgbClr val="D6F5EE"/>
          </a:solidFill>
          <a:ln/>
        </p:spPr>
      </p:sp>
      <p:sp>
        <p:nvSpPr>
          <p:cNvPr id="4" name="Text 1"/>
          <p:cNvSpPr/>
          <p:nvPr/>
        </p:nvSpPr>
        <p:spPr>
          <a:xfrm>
            <a:off x="4010174" y="1563142"/>
            <a:ext cx="1353443" cy="181421"/>
          </a:xfrm>
          <a:prstGeom prst="rect">
            <a:avLst/>
          </a:prstGeom>
          <a:noFill/>
          <a:ln/>
        </p:spPr>
        <p:txBody>
          <a:bodyPr wrap="none" lIns="0" tIns="0" rIns="0" bIns="0" rtlCol="0" anchor="t"/>
          <a:lstStyle/>
          <a:p>
            <a:pPr marL="0" indent="0" algn="l">
              <a:lnSpc>
                <a:spcPct val="133000"/>
              </a:lnSpc>
              <a:buNone/>
            </a:pPr>
            <a:r>
              <a:rPr lang="en-US" sz="850" dirty="0">
                <a:solidFill>
                  <a:srgbClr val="333F70"/>
                </a:solidFill>
                <a:latin typeface="Open Sans" pitchFamily="34" charset="0"/>
                <a:ea typeface="Open Sans" pitchFamily="34" charset="-122"/>
                <a:cs typeface="Open Sans" pitchFamily="34" charset="-120"/>
              </a:rPr>
              <a:t>DATA ANALYTICS</a:t>
            </a:r>
            <a:endParaRPr lang="en-US" sz="850" dirty="0"/>
          </a:p>
        </p:txBody>
      </p:sp>
      <p:sp>
        <p:nvSpPr>
          <p:cNvPr id="5" name="Shape 2"/>
          <p:cNvSpPr/>
          <p:nvPr/>
        </p:nvSpPr>
        <p:spPr>
          <a:xfrm>
            <a:off x="5062314" y="1520651"/>
            <a:ext cx="1058689" cy="266402"/>
          </a:xfrm>
          <a:prstGeom prst="roundRect">
            <a:avLst>
              <a:gd name="adj" fmla="val 17880"/>
            </a:avLst>
          </a:prstGeom>
          <a:noFill/>
          <a:ln/>
          <a:effectLst>
            <a:outerShdw blurRad="101600" dist="50800" dir="16200000" algn="bl" rotWithShape="0">
              <a:srgbClr val="26A688">
                <a:alpha val="100000"/>
              </a:srgbClr>
            </a:outerShdw>
          </a:effectLst>
        </p:spPr>
      </p:sp>
      <p:sp>
        <p:nvSpPr>
          <p:cNvPr id="6" name="Text 3"/>
          <p:cNvSpPr/>
          <p:nvPr/>
        </p:nvSpPr>
        <p:spPr>
          <a:xfrm>
            <a:off x="5147370" y="1563142"/>
            <a:ext cx="1345778" cy="181421"/>
          </a:xfrm>
          <a:prstGeom prst="rect">
            <a:avLst/>
          </a:prstGeom>
          <a:noFill/>
          <a:ln/>
        </p:spPr>
        <p:txBody>
          <a:bodyPr wrap="none" lIns="0" tIns="0" rIns="0" bIns="0" rtlCol="0" anchor="t"/>
          <a:lstStyle/>
          <a:p>
            <a:pPr marL="0" indent="0" algn="l">
              <a:lnSpc>
                <a:spcPct val="133000"/>
              </a:lnSpc>
              <a:buNone/>
            </a:pPr>
            <a:r>
              <a:rPr lang="en-US" sz="850" dirty="0">
                <a:solidFill>
                  <a:srgbClr val="26A688"/>
                </a:solidFill>
                <a:latin typeface="Open Sans" pitchFamily="34" charset="0"/>
                <a:ea typeface="Open Sans" pitchFamily="34" charset="-122"/>
                <a:cs typeface="Open Sans" pitchFamily="34" charset="-120"/>
              </a:rPr>
              <a:t>RETAIL INSIGHTS</a:t>
            </a:r>
            <a:endParaRPr lang="en-US" sz="850" dirty="0"/>
          </a:p>
        </p:txBody>
      </p:sp>
      <p:sp>
        <p:nvSpPr>
          <p:cNvPr id="7" name="Text 4"/>
          <p:cNvSpPr/>
          <p:nvPr/>
        </p:nvSpPr>
        <p:spPr>
          <a:xfrm>
            <a:off x="3925119" y="1843757"/>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Customer Shopping Behavior Analysis</a:t>
            </a:r>
            <a:endParaRPr lang="en-US" sz="2750" dirty="0"/>
          </a:p>
        </p:txBody>
      </p:sp>
      <p:sp>
        <p:nvSpPr>
          <p:cNvPr id="8" name="Text 5"/>
          <p:cNvSpPr/>
          <p:nvPr/>
        </p:nvSpPr>
        <p:spPr>
          <a:xfrm>
            <a:off x="3925119" y="2942332"/>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Analyzing 3,900 purchases across product categories to uncover spending patterns, customer segments, product preferences, and subscription behavior for strategic business decisions.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70793"/>
            <a:ext cx="4592241"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Dataset Summary</a:t>
            </a:r>
            <a:endParaRPr lang="en-US" sz="2750" dirty="0"/>
          </a:p>
        </p:txBody>
      </p:sp>
      <p:sp>
        <p:nvSpPr>
          <p:cNvPr id="3" name="Text 1"/>
          <p:cNvSpPr/>
          <p:nvPr/>
        </p:nvSpPr>
        <p:spPr>
          <a:xfrm>
            <a:off x="496119" y="1668140"/>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3,900</a:t>
            </a:r>
            <a:endParaRPr lang="en-US" sz="3650" dirty="0"/>
          </a:p>
        </p:txBody>
      </p:sp>
      <p:sp>
        <p:nvSpPr>
          <p:cNvPr id="4" name="Text 2"/>
          <p:cNvSpPr/>
          <p:nvPr/>
        </p:nvSpPr>
        <p:spPr>
          <a:xfrm>
            <a:off x="895127" y="2313087"/>
            <a:ext cx="1801044"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Total Purchases</a:t>
            </a:r>
            <a:endParaRPr lang="en-US" sz="1350" dirty="0"/>
          </a:p>
        </p:txBody>
      </p:sp>
      <p:sp>
        <p:nvSpPr>
          <p:cNvPr id="5" name="Text 3"/>
          <p:cNvSpPr/>
          <p:nvPr/>
        </p:nvSpPr>
        <p:spPr>
          <a:xfrm>
            <a:off x="3272433" y="1668140"/>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18</a:t>
            </a:r>
            <a:endParaRPr lang="en-US" sz="3650" dirty="0"/>
          </a:p>
        </p:txBody>
      </p:sp>
      <p:sp>
        <p:nvSpPr>
          <p:cNvPr id="6" name="Text 4"/>
          <p:cNvSpPr/>
          <p:nvPr/>
        </p:nvSpPr>
        <p:spPr>
          <a:xfrm>
            <a:off x="3685952" y="2313087"/>
            <a:ext cx="1772022"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Columns</a:t>
            </a:r>
            <a:endParaRPr lang="en-US" sz="1350" dirty="0"/>
          </a:p>
        </p:txBody>
      </p:sp>
      <p:sp>
        <p:nvSpPr>
          <p:cNvPr id="7" name="Text 5"/>
          <p:cNvSpPr/>
          <p:nvPr/>
        </p:nvSpPr>
        <p:spPr>
          <a:xfrm>
            <a:off x="6048747" y="1668140"/>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37</a:t>
            </a:r>
            <a:endParaRPr lang="en-US" sz="3650" dirty="0"/>
          </a:p>
        </p:txBody>
      </p:sp>
      <p:sp>
        <p:nvSpPr>
          <p:cNvPr id="8" name="Text 6"/>
          <p:cNvSpPr/>
          <p:nvPr/>
        </p:nvSpPr>
        <p:spPr>
          <a:xfrm>
            <a:off x="6462266" y="2313087"/>
            <a:ext cx="1772022"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Missing Values</a:t>
            </a:r>
            <a:endParaRPr lang="en-US" sz="1350" dirty="0"/>
          </a:p>
        </p:txBody>
      </p:sp>
      <p:sp>
        <p:nvSpPr>
          <p:cNvPr id="9" name="Text 7"/>
          <p:cNvSpPr/>
          <p:nvPr/>
        </p:nvSpPr>
        <p:spPr>
          <a:xfrm>
            <a:off x="6048747" y="2619598"/>
            <a:ext cx="2599134" cy="226814"/>
          </a:xfrm>
          <a:prstGeom prst="rect">
            <a:avLst/>
          </a:prstGeom>
          <a:noFill/>
          <a:ln/>
        </p:spPr>
        <p:txBody>
          <a:bodyPr wrap="none" lIns="0" tIns="0" rIns="0" bIns="0" rtlCol="0" anchor="t"/>
          <a:lstStyle/>
          <a:p>
            <a:pPr marL="0" indent="0" algn="ctr">
              <a:lnSpc>
                <a:spcPct val="133000"/>
              </a:lnSpc>
              <a:buNone/>
            </a:pPr>
            <a:r>
              <a:rPr lang="en-US" sz="1100" dirty="0">
                <a:solidFill>
                  <a:srgbClr val="333F70"/>
                </a:solidFill>
                <a:latin typeface="Open Sans" pitchFamily="34" charset="0"/>
                <a:ea typeface="Open Sans" pitchFamily="34" charset="-122"/>
                <a:cs typeface="Open Sans" pitchFamily="34" charset="-120"/>
              </a:rPr>
              <a:t>Review Rating column</a:t>
            </a:r>
            <a:endParaRPr lang="en-US" sz="1100" dirty="0"/>
          </a:p>
        </p:txBody>
      </p:sp>
      <p:sp>
        <p:nvSpPr>
          <p:cNvPr id="10" name="Text 8"/>
          <p:cNvSpPr/>
          <p:nvPr/>
        </p:nvSpPr>
        <p:spPr>
          <a:xfrm>
            <a:off x="496119" y="3059013"/>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Key Features</a:t>
            </a:r>
            <a:endParaRPr lang="en-US" sz="1350" dirty="0"/>
          </a:p>
        </p:txBody>
      </p:sp>
      <p:sp>
        <p:nvSpPr>
          <p:cNvPr id="11" name="Text 9"/>
          <p:cNvSpPr/>
          <p:nvPr/>
        </p:nvSpPr>
        <p:spPr>
          <a:xfrm>
            <a:off x="496119" y="3493071"/>
            <a:ext cx="815176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Customer demographics: Age, Gender, Location, Subscription Status</a:t>
            </a:r>
            <a:endParaRPr lang="en-US" sz="1100" dirty="0"/>
          </a:p>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Purchase details: Item, Category, Amount, Season, Size, Color</a:t>
            </a:r>
            <a:endParaRPr lang="en-US" sz="1100" dirty="0"/>
          </a:p>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Shopping behavior: Discount, Promo Code, Previous Purchases, Frequency, Review Rating, Shipping Type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70421"/>
            <a:ext cx="8494812"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Exploratory Data Analysis in Python</a:t>
            </a:r>
            <a:endParaRPr lang="en-US" sz="2750" dirty="0"/>
          </a:p>
        </p:txBody>
      </p:sp>
      <p:sp>
        <p:nvSpPr>
          <p:cNvPr id="3" name="Text 1"/>
          <p:cNvSpPr/>
          <p:nvPr/>
        </p:nvSpPr>
        <p:spPr>
          <a:xfrm>
            <a:off x="496119" y="1370112"/>
            <a:ext cx="3305994"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Data Preparation Pipeline</a:t>
            </a:r>
            <a:endParaRPr lang="en-US" sz="1350" dirty="0"/>
          </a:p>
        </p:txBody>
      </p:sp>
      <p:sp>
        <p:nvSpPr>
          <p:cNvPr id="4" name="Text 2"/>
          <p:cNvSpPr/>
          <p:nvPr/>
        </p:nvSpPr>
        <p:spPr>
          <a:xfrm>
            <a:off x="2356842" y="1804169"/>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01</a:t>
            </a:r>
            <a:endParaRPr lang="en-US" sz="1100" dirty="0"/>
          </a:p>
        </p:txBody>
      </p:sp>
      <p:sp>
        <p:nvSpPr>
          <p:cNvPr id="5" name="Shape 3"/>
          <p:cNvSpPr/>
          <p:nvPr/>
        </p:nvSpPr>
        <p:spPr>
          <a:xfrm>
            <a:off x="496119" y="2026072"/>
            <a:ext cx="4004965" cy="19050"/>
          </a:xfrm>
          <a:prstGeom prst="rect">
            <a:avLst/>
          </a:prstGeom>
          <a:solidFill>
            <a:srgbClr val="26A688"/>
          </a:solidFill>
          <a:ln/>
        </p:spPr>
      </p:sp>
      <p:sp>
        <p:nvSpPr>
          <p:cNvPr id="6" name="Text 4"/>
          <p:cNvSpPr/>
          <p:nvPr/>
        </p:nvSpPr>
        <p:spPr>
          <a:xfrm>
            <a:off x="1612553" y="2135014"/>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Data Loading</a:t>
            </a:r>
            <a:endParaRPr lang="en-US" sz="1350" dirty="0"/>
          </a:p>
        </p:txBody>
      </p:sp>
      <p:sp>
        <p:nvSpPr>
          <p:cNvPr id="7" name="Text 5"/>
          <p:cNvSpPr/>
          <p:nvPr/>
        </p:nvSpPr>
        <p:spPr>
          <a:xfrm>
            <a:off x="496119" y="2441525"/>
            <a:ext cx="4004965"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Imported dataset using pandas</a:t>
            </a:r>
            <a:endParaRPr lang="en-US" sz="1100" dirty="0"/>
          </a:p>
        </p:txBody>
      </p:sp>
      <p:sp>
        <p:nvSpPr>
          <p:cNvPr id="8" name="Text 6"/>
          <p:cNvSpPr/>
          <p:nvPr/>
        </p:nvSpPr>
        <p:spPr>
          <a:xfrm>
            <a:off x="6503566" y="1804169"/>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02</a:t>
            </a:r>
            <a:endParaRPr lang="en-US" sz="1100" dirty="0"/>
          </a:p>
        </p:txBody>
      </p:sp>
      <p:sp>
        <p:nvSpPr>
          <p:cNvPr id="9" name="Shape 7"/>
          <p:cNvSpPr/>
          <p:nvPr/>
        </p:nvSpPr>
        <p:spPr>
          <a:xfrm>
            <a:off x="4642842" y="2026072"/>
            <a:ext cx="4005039" cy="19050"/>
          </a:xfrm>
          <a:prstGeom prst="rect">
            <a:avLst/>
          </a:prstGeom>
          <a:solidFill>
            <a:srgbClr val="26A688"/>
          </a:solidFill>
          <a:ln/>
        </p:spPr>
      </p:sp>
      <p:sp>
        <p:nvSpPr>
          <p:cNvPr id="10" name="Text 8"/>
          <p:cNvSpPr/>
          <p:nvPr/>
        </p:nvSpPr>
        <p:spPr>
          <a:xfrm>
            <a:off x="5384750" y="2135014"/>
            <a:ext cx="2521148"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Missing Data Handling</a:t>
            </a:r>
            <a:endParaRPr lang="en-US" sz="1350" dirty="0"/>
          </a:p>
        </p:txBody>
      </p:sp>
      <p:sp>
        <p:nvSpPr>
          <p:cNvPr id="11" name="Text 9"/>
          <p:cNvSpPr/>
          <p:nvPr/>
        </p:nvSpPr>
        <p:spPr>
          <a:xfrm>
            <a:off x="4642842" y="2441525"/>
            <a:ext cx="4005039"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Imputed Review Rating using category median</a:t>
            </a:r>
            <a:endParaRPr lang="en-US" sz="1100" dirty="0"/>
          </a:p>
        </p:txBody>
      </p:sp>
      <p:sp>
        <p:nvSpPr>
          <p:cNvPr id="12" name="Text 10"/>
          <p:cNvSpPr/>
          <p:nvPr/>
        </p:nvSpPr>
        <p:spPr>
          <a:xfrm>
            <a:off x="2356842" y="2916362"/>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03</a:t>
            </a:r>
            <a:endParaRPr lang="en-US" sz="1100" dirty="0"/>
          </a:p>
        </p:txBody>
      </p:sp>
      <p:sp>
        <p:nvSpPr>
          <p:cNvPr id="13" name="Shape 11"/>
          <p:cNvSpPr/>
          <p:nvPr/>
        </p:nvSpPr>
        <p:spPr>
          <a:xfrm>
            <a:off x="496119" y="3138264"/>
            <a:ext cx="4004965" cy="19050"/>
          </a:xfrm>
          <a:prstGeom prst="rect">
            <a:avLst/>
          </a:prstGeom>
          <a:solidFill>
            <a:srgbClr val="26A688"/>
          </a:solidFill>
          <a:ln/>
        </p:spPr>
      </p:sp>
      <p:sp>
        <p:nvSpPr>
          <p:cNvPr id="14" name="Text 12"/>
          <p:cNvSpPr/>
          <p:nvPr/>
        </p:nvSpPr>
        <p:spPr>
          <a:xfrm>
            <a:off x="1378372" y="3247206"/>
            <a:ext cx="2240459"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Feature Engineering</a:t>
            </a:r>
            <a:endParaRPr lang="en-US" sz="1350" dirty="0"/>
          </a:p>
        </p:txBody>
      </p:sp>
      <p:sp>
        <p:nvSpPr>
          <p:cNvPr id="15" name="Text 13"/>
          <p:cNvSpPr/>
          <p:nvPr/>
        </p:nvSpPr>
        <p:spPr>
          <a:xfrm>
            <a:off x="496119" y="3553718"/>
            <a:ext cx="4004965"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Created age_group and purchase_frequency_days columns</a:t>
            </a:r>
            <a:endParaRPr lang="en-US" sz="1100" dirty="0"/>
          </a:p>
        </p:txBody>
      </p:sp>
      <p:sp>
        <p:nvSpPr>
          <p:cNvPr id="16" name="Text 14"/>
          <p:cNvSpPr/>
          <p:nvPr/>
        </p:nvSpPr>
        <p:spPr>
          <a:xfrm>
            <a:off x="6503566" y="2916362"/>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333F70"/>
                </a:solidFill>
                <a:latin typeface="Unbounded Light" pitchFamily="34" charset="0"/>
                <a:ea typeface="Unbounded Light" pitchFamily="34" charset="-122"/>
                <a:cs typeface="Unbounded Light" pitchFamily="34" charset="-120"/>
              </a:rPr>
              <a:t>04</a:t>
            </a:r>
            <a:endParaRPr lang="en-US" sz="1100" dirty="0"/>
          </a:p>
        </p:txBody>
      </p:sp>
      <p:sp>
        <p:nvSpPr>
          <p:cNvPr id="17" name="Shape 15"/>
          <p:cNvSpPr/>
          <p:nvPr/>
        </p:nvSpPr>
        <p:spPr>
          <a:xfrm>
            <a:off x="4642842" y="3138264"/>
            <a:ext cx="4005039" cy="19050"/>
          </a:xfrm>
          <a:prstGeom prst="rect">
            <a:avLst/>
          </a:prstGeom>
          <a:solidFill>
            <a:srgbClr val="26A688"/>
          </a:solidFill>
          <a:ln/>
        </p:spPr>
      </p:sp>
      <p:sp>
        <p:nvSpPr>
          <p:cNvPr id="18" name="Text 16"/>
          <p:cNvSpPr/>
          <p:nvPr/>
        </p:nvSpPr>
        <p:spPr>
          <a:xfrm>
            <a:off x="5436915" y="3247206"/>
            <a:ext cx="2416820"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Database Integration</a:t>
            </a:r>
            <a:endParaRPr lang="en-US" sz="1350" dirty="0"/>
          </a:p>
        </p:txBody>
      </p:sp>
      <p:sp>
        <p:nvSpPr>
          <p:cNvPr id="19" name="Text 17"/>
          <p:cNvSpPr/>
          <p:nvPr/>
        </p:nvSpPr>
        <p:spPr>
          <a:xfrm>
            <a:off x="4642842" y="3553718"/>
            <a:ext cx="4005039" cy="226814"/>
          </a:xfrm>
          <a:prstGeom prst="rect">
            <a:avLst/>
          </a:prstGeom>
          <a:noFill/>
          <a:ln/>
        </p:spPr>
        <p:txBody>
          <a:bodyPr wrap="non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Loaded cleaned data into MySQL</a:t>
            </a:r>
            <a:endParaRPr lang="en-US" sz="1100" dirty="0"/>
          </a:p>
        </p:txBody>
      </p:sp>
      <p:sp>
        <p:nvSpPr>
          <p:cNvPr id="20" name="Text 18"/>
          <p:cNvSpPr/>
          <p:nvPr/>
        </p:nvSpPr>
        <p:spPr>
          <a:xfrm>
            <a:off x="496119" y="4046265"/>
            <a:ext cx="8608963" cy="226814"/>
          </a:xfrm>
          <a:prstGeom prst="rect">
            <a:avLst/>
          </a:prstGeom>
          <a:noFill/>
          <a:ln/>
        </p:spPr>
        <p:txBody>
          <a:bodyPr wrap="none" lIns="0" tIns="0" rIns="0" bIns="0" rtlCol="0" anchor="t"/>
          <a:lstStyle/>
          <a:p>
            <a:pPr marL="0" indent="0" algn="l">
              <a:lnSpc>
                <a:spcPct val="133000"/>
              </a:lnSpc>
              <a:buNone/>
            </a:pP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10257"/>
            <a:ext cx="4931048"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Dataset at a Glance</a:t>
            </a:r>
            <a:endParaRPr lang="en-US" sz="2750" dirty="0"/>
          </a:p>
        </p:txBody>
      </p:sp>
      <p:sp>
        <p:nvSpPr>
          <p:cNvPr id="3" name="Text 1"/>
          <p:cNvSpPr/>
          <p:nvPr/>
        </p:nvSpPr>
        <p:spPr>
          <a:xfrm>
            <a:off x="496119" y="1236762"/>
            <a:ext cx="8151763" cy="613097"/>
          </a:xfrm>
          <a:prstGeom prst="rect">
            <a:avLst/>
          </a:prstGeom>
          <a:noFill/>
          <a:ln/>
        </p:spPr>
        <p:txBody>
          <a:bodyPr wrap="square" lIns="0" tIns="0" rIns="0" bIns="0" rtlCol="0" anchor="t"/>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Summary statistics from initial exploration using </a:t>
            </a:r>
            <a:r>
              <a:rPr lang="en-US" sz="1100" dirty="0">
                <a:solidFill>
                  <a:srgbClr val="333F70"/>
                </a:solidFill>
                <a:highlight>
                  <a:srgbClr val="F2F2F2"/>
                </a:highlight>
                <a:latin typeface="Consolas" pitchFamily="34" charset="0"/>
                <a:ea typeface="Consolas" pitchFamily="34" charset="-122"/>
                <a:cs typeface="Consolas" pitchFamily="34" charset="-120"/>
              </a:rPr>
              <a:t>df.describe()</a:t>
            </a:r>
            <a:endParaRPr lang="en-US" sz="1100" dirty="0"/>
          </a:p>
        </p:txBody>
      </p:sp>
      <p:pic>
        <p:nvPicPr>
          <p:cNvPr id="4" name="Image 0" descr="preencoded.png"/>
          <p:cNvPicPr>
            <a:picLocks noChangeAspect="1"/>
          </p:cNvPicPr>
          <p:nvPr/>
        </p:nvPicPr>
        <p:blipFill>
          <a:blip r:embed="rId3"/>
          <a:stretch>
            <a:fillRect/>
          </a:stretch>
        </p:blipFill>
        <p:spPr>
          <a:xfrm>
            <a:off x="496119" y="2009329"/>
            <a:ext cx="8151763" cy="2237631"/>
          </a:xfrm>
          <a:prstGeom prst="rect">
            <a:avLst/>
          </a:prstGeom>
        </p:spPr>
      </p:pic>
      <p:sp>
        <p:nvSpPr>
          <p:cNvPr id="5" name="Text 2"/>
          <p:cNvSpPr/>
          <p:nvPr/>
        </p:nvSpPr>
        <p:spPr>
          <a:xfrm>
            <a:off x="496119" y="4406429"/>
            <a:ext cx="8608963" cy="226814"/>
          </a:xfrm>
          <a:prstGeom prst="rect">
            <a:avLst/>
          </a:prstGeom>
          <a:noFill/>
          <a:ln/>
        </p:spPr>
        <p:txBody>
          <a:bodyPr wrap="none" lIns="0" tIns="0" rIns="0" bIns="0" rtlCol="0" anchor="t"/>
          <a:lstStyle/>
          <a:p>
            <a:pPr marL="0" indent="0" algn="l">
              <a:lnSpc>
                <a:spcPct val="133000"/>
              </a:lnSpc>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51842"/>
            <a:ext cx="5626001" cy="415305"/>
          </a:xfrm>
          <a:prstGeom prst="rect">
            <a:avLst/>
          </a:prstGeom>
          <a:noFill/>
          <a:ln/>
        </p:spPr>
        <p:txBody>
          <a:bodyPr wrap="none" lIns="0" tIns="0" rIns="0" bIns="0" rtlCol="0" anchor="t"/>
          <a:lstStyle/>
          <a:p>
            <a:pPr marL="0" indent="0" algn="l">
              <a:lnSpc>
                <a:spcPct val="104000"/>
              </a:lnSpc>
              <a:buNone/>
            </a:pPr>
            <a:r>
              <a:rPr lang="en-US" sz="2600" b="1" dirty="0">
                <a:solidFill>
                  <a:srgbClr val="333F70"/>
                </a:solidFill>
                <a:latin typeface="Unbounded Bold" pitchFamily="34" charset="0"/>
                <a:ea typeface="Unbounded Bold" pitchFamily="34" charset="-122"/>
                <a:cs typeface="Unbounded Bold" pitchFamily="34" charset="-120"/>
              </a:rPr>
              <a:t>Key Numerical Statistics</a:t>
            </a:r>
            <a:endParaRPr lang="en-US" sz="2600" dirty="0"/>
          </a:p>
        </p:txBody>
      </p:sp>
      <p:sp>
        <p:nvSpPr>
          <p:cNvPr id="3" name="Text 1"/>
          <p:cNvSpPr/>
          <p:nvPr/>
        </p:nvSpPr>
        <p:spPr>
          <a:xfrm>
            <a:off x="496119" y="1116285"/>
            <a:ext cx="860896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A detailed overview of the central tendency, dispersion, and shape of the distribution of numerical features within the dataset.</a:t>
            </a:r>
            <a:endParaRPr lang="en-US" sz="1000" dirty="0"/>
          </a:p>
        </p:txBody>
      </p:sp>
      <p:sp>
        <p:nvSpPr>
          <p:cNvPr id="4" name="Shape 2"/>
          <p:cNvSpPr/>
          <p:nvPr/>
        </p:nvSpPr>
        <p:spPr>
          <a:xfrm>
            <a:off x="496119" y="1462385"/>
            <a:ext cx="8151763" cy="2471142"/>
          </a:xfrm>
          <a:prstGeom prst="roundRect">
            <a:avLst>
              <a:gd name="adj" fmla="val 2259"/>
            </a:avLst>
          </a:prstGeom>
          <a:noFill/>
          <a:ln w="4763">
            <a:solidFill>
              <a:srgbClr val="000000">
                <a:alpha val="8000"/>
              </a:srgbClr>
            </a:solidFill>
            <a:prstDash val="solid"/>
          </a:ln>
        </p:spPr>
      </p:sp>
      <p:sp>
        <p:nvSpPr>
          <p:cNvPr id="5" name="Text 3"/>
          <p:cNvSpPr/>
          <p:nvPr/>
        </p:nvSpPr>
        <p:spPr>
          <a:xfrm>
            <a:off x="634678" y="1546622"/>
            <a:ext cx="1093515"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Metric</a:t>
            </a:r>
            <a:endParaRPr lang="en-US" sz="1000" dirty="0"/>
          </a:p>
        </p:txBody>
      </p:sp>
      <p:sp>
        <p:nvSpPr>
          <p:cNvPr id="6" name="Text 4"/>
          <p:cNvSpPr/>
          <p:nvPr/>
        </p:nvSpPr>
        <p:spPr>
          <a:xfrm>
            <a:off x="1541562"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Count</a:t>
            </a:r>
            <a:endParaRPr lang="en-US" sz="1000" dirty="0"/>
          </a:p>
        </p:txBody>
      </p:sp>
      <p:sp>
        <p:nvSpPr>
          <p:cNvPr id="7" name="Text 5"/>
          <p:cNvSpPr/>
          <p:nvPr/>
        </p:nvSpPr>
        <p:spPr>
          <a:xfrm>
            <a:off x="2446065"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Mean</a:t>
            </a:r>
            <a:endParaRPr lang="en-US" sz="1000" dirty="0"/>
          </a:p>
        </p:txBody>
      </p:sp>
      <p:sp>
        <p:nvSpPr>
          <p:cNvPr id="8" name="Text 6"/>
          <p:cNvSpPr/>
          <p:nvPr/>
        </p:nvSpPr>
        <p:spPr>
          <a:xfrm>
            <a:off x="3350568"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Std</a:t>
            </a:r>
            <a:endParaRPr lang="en-US" sz="1000" dirty="0"/>
          </a:p>
        </p:txBody>
      </p:sp>
      <p:sp>
        <p:nvSpPr>
          <p:cNvPr id="9" name="Text 7"/>
          <p:cNvSpPr/>
          <p:nvPr/>
        </p:nvSpPr>
        <p:spPr>
          <a:xfrm>
            <a:off x="4255071"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Min</a:t>
            </a:r>
            <a:endParaRPr lang="en-US" sz="1000" dirty="0"/>
          </a:p>
        </p:txBody>
      </p:sp>
      <p:sp>
        <p:nvSpPr>
          <p:cNvPr id="10" name="Text 8"/>
          <p:cNvSpPr/>
          <p:nvPr/>
        </p:nvSpPr>
        <p:spPr>
          <a:xfrm>
            <a:off x="5159573"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25%</a:t>
            </a:r>
            <a:endParaRPr lang="en-US" sz="1000" dirty="0"/>
          </a:p>
        </p:txBody>
      </p:sp>
      <p:sp>
        <p:nvSpPr>
          <p:cNvPr id="11" name="Text 9"/>
          <p:cNvSpPr/>
          <p:nvPr/>
        </p:nvSpPr>
        <p:spPr>
          <a:xfrm>
            <a:off x="6064076"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50%</a:t>
            </a:r>
            <a:endParaRPr lang="en-US" sz="1000" dirty="0"/>
          </a:p>
        </p:txBody>
      </p:sp>
      <p:sp>
        <p:nvSpPr>
          <p:cNvPr id="12" name="Text 10"/>
          <p:cNvSpPr/>
          <p:nvPr/>
        </p:nvSpPr>
        <p:spPr>
          <a:xfrm>
            <a:off x="6968579" y="1546622"/>
            <a:ext cx="1091133"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75%</a:t>
            </a:r>
            <a:endParaRPr lang="en-US" sz="1000" dirty="0"/>
          </a:p>
        </p:txBody>
      </p:sp>
      <p:sp>
        <p:nvSpPr>
          <p:cNvPr id="13" name="Text 11"/>
          <p:cNvSpPr/>
          <p:nvPr/>
        </p:nvSpPr>
        <p:spPr>
          <a:xfrm>
            <a:off x="7873082" y="1546622"/>
            <a:ext cx="1093515" cy="205978"/>
          </a:xfrm>
          <a:prstGeom prst="rect">
            <a:avLst/>
          </a:prstGeom>
          <a:noFill/>
          <a:ln/>
        </p:spPr>
        <p:txBody>
          <a:bodyPr wrap="none" lIns="0" tIns="0" rIns="0" bIns="0" rtlCol="0" anchor="t"/>
          <a:lstStyle/>
          <a:p>
            <a:pPr marL="0" indent="0" algn="l">
              <a:lnSpc>
                <a:spcPct val="129000"/>
              </a:lnSpc>
              <a:buNone/>
            </a:pPr>
            <a:r>
              <a:rPr lang="en-US" sz="1000" b="1" dirty="0">
                <a:solidFill>
                  <a:srgbClr val="333F70"/>
                </a:solidFill>
                <a:latin typeface="Open Sans Bold" pitchFamily="34" charset="0"/>
                <a:ea typeface="Open Sans Bold" pitchFamily="34" charset="-122"/>
                <a:cs typeface="Open Sans Bold" pitchFamily="34" charset="-120"/>
              </a:rPr>
              <a:t>Max</a:t>
            </a:r>
            <a:endParaRPr lang="en-US" sz="1000" dirty="0"/>
          </a:p>
        </p:txBody>
      </p:sp>
      <p:sp>
        <p:nvSpPr>
          <p:cNvPr id="14" name="Text 12"/>
          <p:cNvSpPr/>
          <p:nvPr/>
        </p:nvSpPr>
        <p:spPr>
          <a:xfrm>
            <a:off x="634678" y="1916311"/>
            <a:ext cx="1093515"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Age</a:t>
            </a:r>
            <a:endParaRPr lang="en-US" sz="1000" dirty="0"/>
          </a:p>
        </p:txBody>
      </p:sp>
      <p:sp>
        <p:nvSpPr>
          <p:cNvPr id="15" name="Text 13"/>
          <p:cNvSpPr/>
          <p:nvPr/>
        </p:nvSpPr>
        <p:spPr>
          <a:xfrm>
            <a:off x="1541562"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3900</a:t>
            </a:r>
            <a:endParaRPr lang="en-US" sz="1000" dirty="0"/>
          </a:p>
        </p:txBody>
      </p:sp>
      <p:sp>
        <p:nvSpPr>
          <p:cNvPr id="16" name="Text 14"/>
          <p:cNvSpPr/>
          <p:nvPr/>
        </p:nvSpPr>
        <p:spPr>
          <a:xfrm>
            <a:off x="2446065"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35.2</a:t>
            </a:r>
            <a:endParaRPr lang="en-US" sz="1000" dirty="0"/>
          </a:p>
        </p:txBody>
      </p:sp>
      <p:sp>
        <p:nvSpPr>
          <p:cNvPr id="17" name="Text 15"/>
          <p:cNvSpPr/>
          <p:nvPr/>
        </p:nvSpPr>
        <p:spPr>
          <a:xfrm>
            <a:off x="3350568"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10.5</a:t>
            </a:r>
            <a:endParaRPr lang="en-US" sz="1000" dirty="0"/>
          </a:p>
        </p:txBody>
      </p:sp>
      <p:sp>
        <p:nvSpPr>
          <p:cNvPr id="18" name="Text 16"/>
          <p:cNvSpPr/>
          <p:nvPr/>
        </p:nvSpPr>
        <p:spPr>
          <a:xfrm>
            <a:off x="4255071"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18</a:t>
            </a:r>
            <a:endParaRPr lang="en-US" sz="1000" dirty="0"/>
          </a:p>
        </p:txBody>
      </p:sp>
      <p:sp>
        <p:nvSpPr>
          <p:cNvPr id="19" name="Text 17"/>
          <p:cNvSpPr/>
          <p:nvPr/>
        </p:nvSpPr>
        <p:spPr>
          <a:xfrm>
            <a:off x="5159573"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28</a:t>
            </a:r>
            <a:endParaRPr lang="en-US" sz="1000" dirty="0"/>
          </a:p>
        </p:txBody>
      </p:sp>
      <p:sp>
        <p:nvSpPr>
          <p:cNvPr id="20" name="Text 18"/>
          <p:cNvSpPr/>
          <p:nvPr/>
        </p:nvSpPr>
        <p:spPr>
          <a:xfrm>
            <a:off x="6064076"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34</a:t>
            </a:r>
            <a:endParaRPr lang="en-US" sz="1000" dirty="0"/>
          </a:p>
        </p:txBody>
      </p:sp>
      <p:sp>
        <p:nvSpPr>
          <p:cNvPr id="21" name="Text 19"/>
          <p:cNvSpPr/>
          <p:nvPr/>
        </p:nvSpPr>
        <p:spPr>
          <a:xfrm>
            <a:off x="6968579" y="1916311"/>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42</a:t>
            </a:r>
            <a:endParaRPr lang="en-US" sz="1000" dirty="0"/>
          </a:p>
        </p:txBody>
      </p:sp>
      <p:sp>
        <p:nvSpPr>
          <p:cNvPr id="22" name="Text 20"/>
          <p:cNvSpPr/>
          <p:nvPr/>
        </p:nvSpPr>
        <p:spPr>
          <a:xfrm>
            <a:off x="7873082" y="1916311"/>
            <a:ext cx="1093515"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65</a:t>
            </a:r>
            <a:endParaRPr lang="en-US" sz="1000" dirty="0"/>
          </a:p>
        </p:txBody>
      </p:sp>
      <p:sp>
        <p:nvSpPr>
          <p:cNvPr id="23" name="Text 21"/>
          <p:cNvSpPr/>
          <p:nvPr/>
        </p:nvSpPr>
        <p:spPr>
          <a:xfrm>
            <a:off x="634678" y="2286000"/>
            <a:ext cx="636315"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Amount (USD)</a:t>
            </a:r>
            <a:endParaRPr lang="en-US" sz="1000" dirty="0"/>
          </a:p>
        </p:txBody>
      </p:sp>
      <p:sp>
        <p:nvSpPr>
          <p:cNvPr id="24" name="Text 22"/>
          <p:cNvSpPr/>
          <p:nvPr/>
        </p:nvSpPr>
        <p:spPr>
          <a:xfrm>
            <a:off x="1541562"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3900</a:t>
            </a:r>
            <a:endParaRPr lang="en-US" sz="1000" dirty="0"/>
          </a:p>
        </p:txBody>
      </p:sp>
      <p:sp>
        <p:nvSpPr>
          <p:cNvPr id="25" name="Text 23"/>
          <p:cNvSpPr/>
          <p:nvPr/>
        </p:nvSpPr>
        <p:spPr>
          <a:xfrm>
            <a:off x="2446065"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60.8</a:t>
            </a:r>
            <a:endParaRPr lang="en-US" sz="1000" dirty="0"/>
          </a:p>
        </p:txBody>
      </p:sp>
      <p:sp>
        <p:nvSpPr>
          <p:cNvPr id="26" name="Text 24"/>
          <p:cNvSpPr/>
          <p:nvPr/>
        </p:nvSpPr>
        <p:spPr>
          <a:xfrm>
            <a:off x="3350568"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25.3</a:t>
            </a:r>
            <a:endParaRPr lang="en-US" sz="1000" dirty="0"/>
          </a:p>
        </p:txBody>
      </p:sp>
      <p:sp>
        <p:nvSpPr>
          <p:cNvPr id="27" name="Text 25"/>
          <p:cNvSpPr/>
          <p:nvPr/>
        </p:nvSpPr>
        <p:spPr>
          <a:xfrm>
            <a:off x="4255071"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10</a:t>
            </a:r>
            <a:endParaRPr lang="en-US" sz="1000" dirty="0"/>
          </a:p>
        </p:txBody>
      </p:sp>
      <p:sp>
        <p:nvSpPr>
          <p:cNvPr id="28" name="Text 26"/>
          <p:cNvSpPr/>
          <p:nvPr/>
        </p:nvSpPr>
        <p:spPr>
          <a:xfrm>
            <a:off x="5159573"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40</a:t>
            </a:r>
            <a:endParaRPr lang="en-US" sz="1000" dirty="0"/>
          </a:p>
        </p:txBody>
      </p:sp>
      <p:sp>
        <p:nvSpPr>
          <p:cNvPr id="29" name="Text 27"/>
          <p:cNvSpPr/>
          <p:nvPr/>
        </p:nvSpPr>
        <p:spPr>
          <a:xfrm>
            <a:off x="6064076"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58</a:t>
            </a:r>
            <a:endParaRPr lang="en-US" sz="1000" dirty="0"/>
          </a:p>
        </p:txBody>
      </p:sp>
      <p:sp>
        <p:nvSpPr>
          <p:cNvPr id="30" name="Text 28"/>
          <p:cNvSpPr/>
          <p:nvPr/>
        </p:nvSpPr>
        <p:spPr>
          <a:xfrm>
            <a:off x="6968579" y="2286000"/>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75</a:t>
            </a:r>
            <a:endParaRPr lang="en-US" sz="1000" dirty="0"/>
          </a:p>
        </p:txBody>
      </p:sp>
      <p:sp>
        <p:nvSpPr>
          <p:cNvPr id="31" name="Text 29"/>
          <p:cNvSpPr/>
          <p:nvPr/>
        </p:nvSpPr>
        <p:spPr>
          <a:xfrm>
            <a:off x="7873082" y="2286000"/>
            <a:ext cx="1093515"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150</a:t>
            </a:r>
            <a:endParaRPr lang="en-US" sz="1000" dirty="0"/>
          </a:p>
        </p:txBody>
      </p:sp>
      <p:sp>
        <p:nvSpPr>
          <p:cNvPr id="32" name="Text 30"/>
          <p:cNvSpPr/>
          <p:nvPr/>
        </p:nvSpPr>
        <p:spPr>
          <a:xfrm>
            <a:off x="634678" y="2861667"/>
            <a:ext cx="636315"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Previous Purchases</a:t>
            </a:r>
            <a:endParaRPr lang="en-US" sz="1000" dirty="0"/>
          </a:p>
        </p:txBody>
      </p:sp>
      <p:sp>
        <p:nvSpPr>
          <p:cNvPr id="33" name="Text 31"/>
          <p:cNvSpPr/>
          <p:nvPr/>
        </p:nvSpPr>
        <p:spPr>
          <a:xfrm>
            <a:off x="1541562"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3900</a:t>
            </a:r>
            <a:endParaRPr lang="en-US" sz="1000" dirty="0"/>
          </a:p>
        </p:txBody>
      </p:sp>
      <p:sp>
        <p:nvSpPr>
          <p:cNvPr id="34" name="Text 32"/>
          <p:cNvSpPr/>
          <p:nvPr/>
        </p:nvSpPr>
        <p:spPr>
          <a:xfrm>
            <a:off x="2446065"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15.1</a:t>
            </a:r>
            <a:endParaRPr lang="en-US" sz="1000" dirty="0"/>
          </a:p>
        </p:txBody>
      </p:sp>
      <p:sp>
        <p:nvSpPr>
          <p:cNvPr id="35" name="Text 33"/>
          <p:cNvSpPr/>
          <p:nvPr/>
        </p:nvSpPr>
        <p:spPr>
          <a:xfrm>
            <a:off x="3350568"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8.2</a:t>
            </a:r>
            <a:endParaRPr lang="en-US" sz="1000" dirty="0"/>
          </a:p>
        </p:txBody>
      </p:sp>
      <p:sp>
        <p:nvSpPr>
          <p:cNvPr id="36" name="Text 34"/>
          <p:cNvSpPr/>
          <p:nvPr/>
        </p:nvSpPr>
        <p:spPr>
          <a:xfrm>
            <a:off x="4255071"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0</a:t>
            </a:r>
            <a:endParaRPr lang="en-US" sz="1000" dirty="0"/>
          </a:p>
        </p:txBody>
      </p:sp>
      <p:sp>
        <p:nvSpPr>
          <p:cNvPr id="37" name="Text 35"/>
          <p:cNvSpPr/>
          <p:nvPr/>
        </p:nvSpPr>
        <p:spPr>
          <a:xfrm>
            <a:off x="5159573"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8</a:t>
            </a:r>
            <a:endParaRPr lang="en-US" sz="1000" dirty="0"/>
          </a:p>
        </p:txBody>
      </p:sp>
      <p:sp>
        <p:nvSpPr>
          <p:cNvPr id="38" name="Text 36"/>
          <p:cNvSpPr/>
          <p:nvPr/>
        </p:nvSpPr>
        <p:spPr>
          <a:xfrm>
            <a:off x="6064076"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15</a:t>
            </a:r>
            <a:endParaRPr lang="en-US" sz="1000" dirty="0"/>
          </a:p>
        </p:txBody>
      </p:sp>
      <p:sp>
        <p:nvSpPr>
          <p:cNvPr id="39" name="Text 37"/>
          <p:cNvSpPr/>
          <p:nvPr/>
        </p:nvSpPr>
        <p:spPr>
          <a:xfrm>
            <a:off x="6968579" y="2861667"/>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22</a:t>
            </a:r>
            <a:endParaRPr lang="en-US" sz="1000" dirty="0"/>
          </a:p>
        </p:txBody>
      </p:sp>
      <p:sp>
        <p:nvSpPr>
          <p:cNvPr id="40" name="Text 38"/>
          <p:cNvSpPr/>
          <p:nvPr/>
        </p:nvSpPr>
        <p:spPr>
          <a:xfrm>
            <a:off x="7873082" y="2861667"/>
            <a:ext cx="1093515"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35</a:t>
            </a:r>
            <a:endParaRPr lang="en-US" sz="1000" dirty="0"/>
          </a:p>
        </p:txBody>
      </p:sp>
      <p:sp>
        <p:nvSpPr>
          <p:cNvPr id="41" name="Text 39"/>
          <p:cNvSpPr/>
          <p:nvPr/>
        </p:nvSpPr>
        <p:spPr>
          <a:xfrm>
            <a:off x="634678" y="3437334"/>
            <a:ext cx="636315"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Review Rating</a:t>
            </a:r>
            <a:endParaRPr lang="en-US" sz="1000" dirty="0"/>
          </a:p>
        </p:txBody>
      </p:sp>
      <p:sp>
        <p:nvSpPr>
          <p:cNvPr id="42" name="Text 40"/>
          <p:cNvSpPr/>
          <p:nvPr/>
        </p:nvSpPr>
        <p:spPr>
          <a:xfrm>
            <a:off x="1541562"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3900</a:t>
            </a:r>
            <a:endParaRPr lang="en-US" sz="1000" dirty="0"/>
          </a:p>
        </p:txBody>
      </p:sp>
      <p:sp>
        <p:nvSpPr>
          <p:cNvPr id="43" name="Text 41"/>
          <p:cNvSpPr/>
          <p:nvPr/>
        </p:nvSpPr>
        <p:spPr>
          <a:xfrm>
            <a:off x="2446065"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4.1</a:t>
            </a:r>
            <a:endParaRPr lang="en-US" sz="1000" dirty="0"/>
          </a:p>
        </p:txBody>
      </p:sp>
      <p:sp>
        <p:nvSpPr>
          <p:cNvPr id="44" name="Text 42"/>
          <p:cNvSpPr/>
          <p:nvPr/>
        </p:nvSpPr>
        <p:spPr>
          <a:xfrm>
            <a:off x="3350568"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0.7</a:t>
            </a:r>
            <a:endParaRPr lang="en-US" sz="1000" dirty="0"/>
          </a:p>
        </p:txBody>
      </p:sp>
      <p:sp>
        <p:nvSpPr>
          <p:cNvPr id="45" name="Text 43"/>
          <p:cNvSpPr/>
          <p:nvPr/>
        </p:nvSpPr>
        <p:spPr>
          <a:xfrm>
            <a:off x="4255071"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1.5</a:t>
            </a:r>
            <a:endParaRPr lang="en-US" sz="1000" dirty="0"/>
          </a:p>
        </p:txBody>
      </p:sp>
      <p:sp>
        <p:nvSpPr>
          <p:cNvPr id="46" name="Text 44"/>
          <p:cNvSpPr/>
          <p:nvPr/>
        </p:nvSpPr>
        <p:spPr>
          <a:xfrm>
            <a:off x="5159573"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3.8</a:t>
            </a:r>
            <a:endParaRPr lang="en-US" sz="1000" dirty="0"/>
          </a:p>
        </p:txBody>
      </p:sp>
      <p:sp>
        <p:nvSpPr>
          <p:cNvPr id="47" name="Text 45"/>
          <p:cNvSpPr/>
          <p:nvPr/>
        </p:nvSpPr>
        <p:spPr>
          <a:xfrm>
            <a:off x="6064076"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4.2</a:t>
            </a:r>
            <a:endParaRPr lang="en-US" sz="1000" dirty="0"/>
          </a:p>
        </p:txBody>
      </p:sp>
      <p:sp>
        <p:nvSpPr>
          <p:cNvPr id="48" name="Text 46"/>
          <p:cNvSpPr/>
          <p:nvPr/>
        </p:nvSpPr>
        <p:spPr>
          <a:xfrm>
            <a:off x="6968579" y="3437334"/>
            <a:ext cx="1091133"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4.5</a:t>
            </a:r>
            <a:endParaRPr lang="en-US" sz="1000" dirty="0"/>
          </a:p>
        </p:txBody>
      </p:sp>
      <p:sp>
        <p:nvSpPr>
          <p:cNvPr id="49" name="Text 47"/>
          <p:cNvSpPr/>
          <p:nvPr/>
        </p:nvSpPr>
        <p:spPr>
          <a:xfrm>
            <a:off x="7873082" y="3437334"/>
            <a:ext cx="1093515" cy="205978"/>
          </a:xfrm>
          <a:prstGeom prst="rect">
            <a:avLst/>
          </a:prstGeom>
          <a:noFill/>
          <a:ln/>
        </p:spPr>
        <p:txBody>
          <a:bodyPr wrap="none" lIns="0" tIns="0" rIns="0" bIns="0" rtlCol="0" anchor="t"/>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5.0</a:t>
            </a:r>
            <a:endParaRPr lang="en-US" sz="1000" dirty="0"/>
          </a:p>
        </p:txBody>
      </p:sp>
      <p:sp>
        <p:nvSpPr>
          <p:cNvPr id="50" name="Text 48"/>
          <p:cNvSpPr/>
          <p:nvPr/>
        </p:nvSpPr>
        <p:spPr>
          <a:xfrm>
            <a:off x="496119" y="4073649"/>
            <a:ext cx="8151763"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333F70"/>
                </a:solidFill>
                <a:latin typeface="Open Sans" pitchFamily="34" charset="0"/>
                <a:ea typeface="Open Sans" pitchFamily="34" charset="-122"/>
                <a:cs typeface="Open Sans" pitchFamily="34" charset="-120"/>
              </a:rPr>
              <a:t>The descriptive statistics highlight a diverse customer base in terms of age and purchase behavior. Average transaction amounts are around $60, and customer ratings generally skew positive. The "Count" for review rating is 3900, indicating successful imputation of missing values, aligning with the data preparation steps.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89855"/>
            <a:ext cx="6956152"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Revenue &amp; Customer Insights</a:t>
            </a:r>
            <a:endParaRPr lang="en-US" sz="2750" dirty="0"/>
          </a:p>
        </p:txBody>
      </p:sp>
      <p:pic>
        <p:nvPicPr>
          <p:cNvPr id="3" name="Image 0" descr="preencoded.png"/>
          <p:cNvPicPr>
            <a:picLocks noChangeAspect="1"/>
          </p:cNvPicPr>
          <p:nvPr/>
        </p:nvPicPr>
        <p:blipFill>
          <a:blip r:embed="rId3"/>
          <a:stretch>
            <a:fillRect/>
          </a:stretch>
        </p:blipFill>
        <p:spPr>
          <a:xfrm>
            <a:off x="496119" y="1204913"/>
            <a:ext cx="3902943" cy="2809354"/>
          </a:xfrm>
          <a:prstGeom prst="rect">
            <a:avLst/>
          </a:prstGeom>
        </p:spPr>
      </p:pic>
      <p:sp>
        <p:nvSpPr>
          <p:cNvPr id="4" name="Text 1"/>
          <p:cNvSpPr/>
          <p:nvPr/>
        </p:nvSpPr>
        <p:spPr>
          <a:xfrm>
            <a:off x="496119" y="4173736"/>
            <a:ext cx="390294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33F70"/>
                </a:solidFill>
                <a:latin typeface="Open Sans" pitchFamily="34" charset="0"/>
                <a:ea typeface="Open Sans" pitchFamily="34" charset="-122"/>
                <a:cs typeface="Open Sans" pitchFamily="34" charset="-120"/>
              </a:rPr>
              <a:t>Male customers generated over 2x the revenue of female customers.</a:t>
            </a:r>
            <a:endParaRPr lang="en-US" sz="1100" dirty="0"/>
          </a:p>
        </p:txBody>
      </p:sp>
      <p:sp>
        <p:nvSpPr>
          <p:cNvPr id="5" name="Text 2"/>
          <p:cNvSpPr/>
          <p:nvPr/>
        </p:nvSpPr>
        <p:spPr>
          <a:xfrm>
            <a:off x="4749701" y="1187202"/>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Key Findings</a:t>
            </a:r>
            <a:endParaRPr lang="en-US" sz="1350" dirty="0"/>
          </a:p>
        </p:txBody>
      </p:sp>
      <p:sp>
        <p:nvSpPr>
          <p:cNvPr id="6" name="Text 3"/>
          <p:cNvSpPr/>
          <p:nvPr/>
        </p:nvSpPr>
        <p:spPr>
          <a:xfrm>
            <a:off x="4749701" y="1550417"/>
            <a:ext cx="3902943" cy="1509564"/>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b="1" dirty="0">
                <a:solidFill>
                  <a:srgbClr val="333F70"/>
                </a:solidFill>
                <a:latin typeface="Open Sans Bold" pitchFamily="34" charset="0"/>
                <a:ea typeface="Open Sans Bold" pitchFamily="34" charset="-122"/>
                <a:cs typeface="Open Sans Bold" pitchFamily="34" charset="-120"/>
              </a:rPr>
              <a:t>839</a:t>
            </a:r>
            <a:r>
              <a:rPr lang="en-US" sz="1100" dirty="0">
                <a:solidFill>
                  <a:srgbClr val="333F70"/>
                </a:solidFill>
                <a:latin typeface="Open Sans" pitchFamily="34" charset="0"/>
                <a:ea typeface="Open Sans" pitchFamily="34" charset="-122"/>
                <a:cs typeface="Open Sans" pitchFamily="34" charset="-120"/>
              </a:rPr>
              <a:t> high-spending discount users spent above the $59.76 average</a:t>
            </a:r>
            <a:endParaRPr lang="en-US" sz="1100" dirty="0"/>
          </a:p>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Standard shipping avg: </a:t>
            </a:r>
            <a:r>
              <a:rPr lang="en-US" sz="1100" b="1" dirty="0">
                <a:solidFill>
                  <a:srgbClr val="333F70"/>
                </a:solidFill>
                <a:latin typeface="Open Sans Bold" pitchFamily="34" charset="0"/>
                <a:ea typeface="Open Sans Bold" pitchFamily="34" charset="-122"/>
                <a:cs typeface="Open Sans Bold" pitchFamily="34" charset="-120"/>
              </a:rPr>
              <a:t>$58.46</a:t>
            </a:r>
            <a:r>
              <a:rPr lang="en-US" sz="1100" dirty="0">
                <a:solidFill>
                  <a:srgbClr val="333F70"/>
                </a:solidFill>
                <a:latin typeface="Open Sans" pitchFamily="34" charset="0"/>
                <a:ea typeface="Open Sans" pitchFamily="34" charset="-122"/>
                <a:cs typeface="Open Sans" pitchFamily="34" charset="-120"/>
              </a:rPr>
              <a:t> vs Express: </a:t>
            </a:r>
            <a:r>
              <a:rPr lang="en-US" sz="1100" b="1" dirty="0">
                <a:solidFill>
                  <a:srgbClr val="333F70"/>
                </a:solidFill>
                <a:latin typeface="Open Sans Bold" pitchFamily="34" charset="0"/>
                <a:ea typeface="Open Sans Bold" pitchFamily="34" charset="-122"/>
                <a:cs typeface="Open Sans Bold" pitchFamily="34" charset="-120"/>
              </a:rPr>
              <a:t>$60.48</a:t>
            </a:r>
            <a:endParaRPr lang="en-US" sz="1100" dirty="0"/>
          </a:p>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Subscribers: </a:t>
            </a:r>
            <a:r>
              <a:rPr lang="en-US" sz="1100" b="1" dirty="0">
                <a:solidFill>
                  <a:srgbClr val="333F70"/>
                </a:solidFill>
                <a:latin typeface="Open Sans Bold" pitchFamily="34" charset="0"/>
                <a:ea typeface="Open Sans Bold" pitchFamily="34" charset="-122"/>
                <a:cs typeface="Open Sans Bold" pitchFamily="34" charset="-120"/>
              </a:rPr>
              <a:t>1,053</a:t>
            </a:r>
            <a:r>
              <a:rPr lang="en-US" sz="1100" dirty="0">
                <a:solidFill>
                  <a:srgbClr val="333F70"/>
                </a:solidFill>
                <a:latin typeface="Open Sans" pitchFamily="34" charset="0"/>
                <a:ea typeface="Open Sans" pitchFamily="34" charset="-122"/>
                <a:cs typeface="Open Sans" pitchFamily="34" charset="-120"/>
              </a:rPr>
              <a:t> customers, $62,645 total revenue</a:t>
            </a:r>
            <a:endParaRPr lang="en-US" sz="1100" dirty="0"/>
          </a:p>
          <a:p>
            <a:pPr marL="223520" indent="-223520" algn="l">
              <a:lnSpc>
                <a:spcPct val="133000"/>
              </a:lnSpc>
              <a:buSzPct val="100000"/>
              <a:buChar char="•"/>
            </a:pPr>
            <a:r>
              <a:rPr lang="en-US" sz="1100" dirty="0">
                <a:solidFill>
                  <a:srgbClr val="333F70"/>
                </a:solidFill>
                <a:latin typeface="Open Sans" pitchFamily="34" charset="0"/>
                <a:ea typeface="Open Sans" pitchFamily="34" charset="-122"/>
                <a:cs typeface="Open Sans" pitchFamily="34" charset="-120"/>
              </a:rPr>
              <a:t>Non-subscribers: </a:t>
            </a:r>
            <a:r>
              <a:rPr lang="en-US" sz="1100" b="1" dirty="0">
                <a:solidFill>
                  <a:srgbClr val="333F70"/>
                </a:solidFill>
                <a:latin typeface="Open Sans Bold" pitchFamily="34" charset="0"/>
                <a:ea typeface="Open Sans Bold" pitchFamily="34" charset="-122"/>
                <a:cs typeface="Open Sans Bold" pitchFamily="34" charset="-120"/>
              </a:rPr>
              <a:t>2,847</a:t>
            </a:r>
            <a:r>
              <a:rPr lang="en-US" sz="1100" dirty="0">
                <a:solidFill>
                  <a:srgbClr val="333F70"/>
                </a:solidFill>
                <a:latin typeface="Open Sans" pitchFamily="34" charset="0"/>
                <a:ea typeface="Open Sans" pitchFamily="34" charset="-122"/>
                <a:cs typeface="Open Sans" pitchFamily="34" charset="-120"/>
              </a:rPr>
              <a:t> customers, $170,436 total revenue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06450"/>
            <a:ext cx="6578352" cy="380702"/>
          </a:xfrm>
          <a:prstGeom prst="rect">
            <a:avLst/>
          </a:prstGeom>
          <a:noFill/>
          <a:ln/>
        </p:spPr>
        <p:txBody>
          <a:bodyPr wrap="none" lIns="0" tIns="0" rIns="0" bIns="0" rtlCol="0" anchor="t"/>
          <a:lstStyle/>
          <a:p>
            <a:pPr marL="0" indent="0" algn="l">
              <a:lnSpc>
                <a:spcPct val="104000"/>
              </a:lnSpc>
              <a:buNone/>
            </a:pPr>
            <a:r>
              <a:rPr lang="en-US" sz="2350" b="1" dirty="0">
                <a:solidFill>
                  <a:srgbClr val="333F70"/>
                </a:solidFill>
                <a:latin typeface="Unbounded Bold" pitchFamily="34" charset="0"/>
                <a:ea typeface="Unbounded Bold" pitchFamily="34" charset="-122"/>
                <a:cs typeface="Unbounded Bold" pitchFamily="34" charset="-120"/>
              </a:rPr>
              <a:t>Top Products &amp; Discount Trends</a:t>
            </a:r>
            <a:endParaRPr lang="en-US" sz="2350" dirty="0"/>
          </a:p>
        </p:txBody>
      </p:sp>
      <p:sp>
        <p:nvSpPr>
          <p:cNvPr id="3" name="Text 1"/>
          <p:cNvSpPr/>
          <p:nvPr/>
        </p:nvSpPr>
        <p:spPr>
          <a:xfrm>
            <a:off x="496119" y="1048792"/>
            <a:ext cx="1980084" cy="190351"/>
          </a:xfrm>
          <a:prstGeom prst="rect">
            <a:avLst/>
          </a:prstGeom>
          <a:noFill/>
          <a:ln/>
        </p:spPr>
        <p:txBody>
          <a:bodyPr wrap="none" lIns="0" tIns="0" rIns="0" bIns="0" rtlCol="0" anchor="t"/>
          <a:lstStyle/>
          <a:p>
            <a:pPr marL="0" indent="0" algn="l">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Top 5 by Rating</a:t>
            </a:r>
            <a:endParaRPr lang="en-US" sz="1150" dirty="0"/>
          </a:p>
        </p:txBody>
      </p:sp>
      <p:pic>
        <p:nvPicPr>
          <p:cNvPr id="4" name="Image 0" descr="preencoded.png"/>
          <p:cNvPicPr>
            <a:picLocks noChangeAspect="1"/>
          </p:cNvPicPr>
          <p:nvPr/>
        </p:nvPicPr>
        <p:blipFill>
          <a:blip r:embed="rId3"/>
          <a:stretch>
            <a:fillRect/>
          </a:stretch>
        </p:blipFill>
        <p:spPr>
          <a:xfrm>
            <a:off x="496119" y="1356866"/>
            <a:ext cx="3927277" cy="2826841"/>
          </a:xfrm>
          <a:prstGeom prst="rect">
            <a:avLst/>
          </a:prstGeom>
        </p:spPr>
      </p:pic>
      <p:sp>
        <p:nvSpPr>
          <p:cNvPr id="5" name="Text 2"/>
          <p:cNvSpPr/>
          <p:nvPr/>
        </p:nvSpPr>
        <p:spPr>
          <a:xfrm>
            <a:off x="496119" y="4301430"/>
            <a:ext cx="3927277" cy="399008"/>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Gloves has the highest rating at 3.86</a:t>
            </a:r>
            <a:endParaRPr lang="en-US" sz="950" dirty="0"/>
          </a:p>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 Skirt has the lowest rating at 3.78 </a:t>
            </a:r>
            <a:endParaRPr lang="en-US" sz="950" dirty="0"/>
          </a:p>
        </p:txBody>
      </p:sp>
      <p:sp>
        <p:nvSpPr>
          <p:cNvPr id="6" name="Text 3"/>
          <p:cNvSpPr/>
          <p:nvPr/>
        </p:nvSpPr>
        <p:spPr>
          <a:xfrm>
            <a:off x="4725367" y="1048792"/>
            <a:ext cx="2716634" cy="190351"/>
          </a:xfrm>
          <a:prstGeom prst="rect">
            <a:avLst/>
          </a:prstGeom>
          <a:noFill/>
          <a:ln/>
        </p:spPr>
        <p:txBody>
          <a:bodyPr wrap="none" lIns="0" tIns="0" rIns="0" bIns="0" rtlCol="0" anchor="t"/>
          <a:lstStyle/>
          <a:p>
            <a:pPr marL="0" indent="0" algn="l">
              <a:lnSpc>
                <a:spcPct val="104000"/>
              </a:lnSpc>
              <a:buNone/>
            </a:pPr>
            <a:r>
              <a:rPr lang="en-US" sz="1150" b="1" dirty="0">
                <a:solidFill>
                  <a:srgbClr val="333F70"/>
                </a:solidFill>
                <a:latin typeface="Unbounded Bold" pitchFamily="34" charset="0"/>
                <a:ea typeface="Unbounded Bold" pitchFamily="34" charset="-122"/>
                <a:cs typeface="Unbounded Bold" pitchFamily="34" charset="-120"/>
              </a:rPr>
              <a:t>Highest Discount Rates</a:t>
            </a:r>
            <a:endParaRPr lang="en-US" sz="1150" dirty="0"/>
          </a:p>
        </p:txBody>
      </p:sp>
      <p:sp>
        <p:nvSpPr>
          <p:cNvPr id="7" name="Text 4"/>
          <p:cNvSpPr/>
          <p:nvPr/>
        </p:nvSpPr>
        <p:spPr>
          <a:xfrm>
            <a:off x="4725367" y="1343769"/>
            <a:ext cx="3927277" cy="1052438"/>
          </a:xfrm>
          <a:prstGeom prst="rect">
            <a:avLst/>
          </a:prstGeom>
          <a:noFill/>
          <a:ln/>
        </p:spPr>
        <p:txBody>
          <a:bodyPr wrap="square" lIns="0" tIns="0" rIns="0" bIns="0" rtlCol="0" anchor="t">
            <a:normAutofit/>
          </a:bodyPr>
          <a:lstStyle/>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Hat — 50.00%</a:t>
            </a:r>
            <a:endParaRPr lang="en-US" sz="950" dirty="0"/>
          </a:p>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Sneakers — 49.66%</a:t>
            </a:r>
            <a:endParaRPr lang="en-US" sz="950" dirty="0"/>
          </a:p>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Coat — 49.07%</a:t>
            </a:r>
            <a:endParaRPr lang="en-US" sz="950" dirty="0"/>
          </a:p>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Sweater — 48.17%</a:t>
            </a:r>
            <a:endParaRPr lang="en-US" sz="950" dirty="0"/>
          </a:p>
          <a:p>
            <a:pPr marL="193040" indent="-193040" algn="l">
              <a:lnSpc>
                <a:spcPct val="124000"/>
              </a:lnSpc>
              <a:buSzPct val="100000"/>
              <a:buChar char="•"/>
            </a:pPr>
            <a:r>
              <a:rPr lang="en-US" sz="950" dirty="0">
                <a:solidFill>
                  <a:srgbClr val="333F70"/>
                </a:solidFill>
                <a:latin typeface="Open Sans" pitchFamily="34" charset="0"/>
                <a:ea typeface="Open Sans" pitchFamily="34" charset="-122"/>
                <a:cs typeface="Open Sans" pitchFamily="34" charset="-120"/>
              </a:rPr>
              <a:t>Pants — 47.37%</a:t>
            </a:r>
            <a:endParaRPr lang="en-US" sz="950" dirty="0"/>
          </a:p>
        </p:txBody>
      </p:sp>
      <p:sp>
        <p:nvSpPr>
          <p:cNvPr id="8" name="Text 5"/>
          <p:cNvSpPr/>
          <p:nvPr/>
        </p:nvSpPr>
        <p:spPr>
          <a:xfrm>
            <a:off x="4725367" y="2490415"/>
            <a:ext cx="3927277" cy="1630784"/>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333F70"/>
                </a:solidFill>
                <a:latin typeface="Open Sans" pitchFamily="34" charset="0"/>
                <a:ea typeface="Open Sans" pitchFamily="34" charset="-122"/>
                <a:cs typeface="Open Sans" pitchFamily="34" charset="-120"/>
              </a:rPr>
              <a:t>Discount rates are clustered in a narrow range, with Hat at the highest level of 50.00% and Pants at the lowest at 47.37%. These elevated discounts suggest an aggressive pricing strategy designed to drive demand and improve competitiveness across the product mix. They may also reflect product positioning differences, where certain items require stronger promotions to move inventory or attract buyers. However, discounts this high can put pressure on profit margins, so it will be important to balance volume growth against long-term profitability.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93576"/>
            <a:ext cx="3299073" cy="228451"/>
          </a:xfrm>
          <a:prstGeom prst="rect">
            <a:avLst/>
          </a:prstGeom>
          <a:noFill/>
          <a:ln/>
        </p:spPr>
        <p:txBody>
          <a:bodyPr wrap="none" lIns="0" tIns="0" rIns="0" bIns="0" rtlCol="0" anchor="t"/>
          <a:lstStyle/>
          <a:p>
            <a:pPr marL="0" indent="0" algn="l">
              <a:lnSpc>
                <a:spcPct val="104000"/>
              </a:lnSpc>
              <a:buNone/>
            </a:pPr>
            <a:r>
              <a:rPr lang="en-US" sz="1400" b="1" dirty="0">
                <a:solidFill>
                  <a:srgbClr val="333F70"/>
                </a:solidFill>
                <a:latin typeface="Unbounded Bold" pitchFamily="34" charset="0"/>
                <a:ea typeface="Unbounded Bold" pitchFamily="34" charset="-122"/>
                <a:cs typeface="Unbounded Bold" pitchFamily="34" charset="-120"/>
              </a:rPr>
              <a:t>Customer Segmentation</a:t>
            </a:r>
            <a:endParaRPr lang="en-US" sz="1400" dirty="0"/>
          </a:p>
        </p:txBody>
      </p:sp>
      <p:pic>
        <p:nvPicPr>
          <p:cNvPr id="3" name="Image 0" descr="preencoded.png"/>
          <p:cNvPicPr>
            <a:picLocks noChangeAspect="1"/>
          </p:cNvPicPr>
          <p:nvPr/>
        </p:nvPicPr>
        <p:blipFill>
          <a:blip r:embed="rId3"/>
          <a:stretch>
            <a:fillRect/>
          </a:stretch>
        </p:blipFill>
        <p:spPr>
          <a:xfrm>
            <a:off x="496119" y="720849"/>
            <a:ext cx="3986733" cy="3986733"/>
          </a:xfrm>
          <a:prstGeom prst="rect">
            <a:avLst/>
          </a:prstGeom>
        </p:spPr>
      </p:pic>
      <p:sp>
        <p:nvSpPr>
          <p:cNvPr id="4" name="Text 1"/>
          <p:cNvSpPr/>
          <p:nvPr/>
        </p:nvSpPr>
        <p:spPr>
          <a:xfrm>
            <a:off x="4665911" y="2412281"/>
            <a:ext cx="1469082" cy="114226"/>
          </a:xfrm>
          <a:prstGeom prst="rect">
            <a:avLst/>
          </a:prstGeom>
          <a:noFill/>
          <a:ln/>
        </p:spPr>
        <p:txBody>
          <a:bodyPr wrap="none" lIns="0" tIns="0" rIns="0" bIns="0" rtlCol="0" anchor="t"/>
          <a:lstStyle/>
          <a:p>
            <a:pPr marL="0" indent="0" algn="l">
              <a:lnSpc>
                <a:spcPct val="104000"/>
              </a:lnSpc>
              <a:buNone/>
            </a:pPr>
            <a:r>
              <a:rPr lang="en-US" sz="700" b="1" dirty="0">
                <a:solidFill>
                  <a:srgbClr val="333F70"/>
                </a:solidFill>
                <a:latin typeface="Unbounded Bold" pitchFamily="34" charset="0"/>
                <a:ea typeface="Unbounded Bold" pitchFamily="34" charset="-122"/>
                <a:cs typeface="Unbounded Bold" pitchFamily="34" charset="-120"/>
              </a:rPr>
              <a:t>Segment Insights</a:t>
            </a:r>
            <a:endParaRPr lang="en-US" sz="700" dirty="0"/>
          </a:p>
        </p:txBody>
      </p:sp>
      <p:sp>
        <p:nvSpPr>
          <p:cNvPr id="5" name="Text 2"/>
          <p:cNvSpPr/>
          <p:nvPr/>
        </p:nvSpPr>
        <p:spPr>
          <a:xfrm>
            <a:off x="4665911" y="2564160"/>
            <a:ext cx="3986733" cy="455786"/>
          </a:xfrm>
          <a:prstGeom prst="rect">
            <a:avLst/>
          </a:prstGeom>
          <a:noFill/>
          <a:ln/>
        </p:spPr>
        <p:txBody>
          <a:bodyPr wrap="square" lIns="0" tIns="0" rIns="0" bIns="0" rtlCol="0" anchor="t"/>
          <a:lstStyle/>
          <a:p>
            <a:pPr marL="0" indent="0" algn="l">
              <a:lnSpc>
                <a:spcPct val="101000"/>
              </a:lnSpc>
              <a:buNone/>
            </a:pPr>
            <a:r>
              <a:rPr lang="en-US" sz="550" b="1" dirty="0">
                <a:solidFill>
                  <a:srgbClr val="333F70"/>
                </a:solidFill>
                <a:latin typeface="Open Sans Bold" pitchFamily="34" charset="0"/>
                <a:ea typeface="Open Sans Bold" pitchFamily="34" charset="-122"/>
                <a:cs typeface="Open Sans Bold" pitchFamily="34" charset="-120"/>
              </a:rPr>
              <a:t>Loyal</a:t>
            </a:r>
            <a:r>
              <a:rPr lang="en-US" sz="550" dirty="0">
                <a:solidFill>
                  <a:srgbClr val="333F70"/>
                </a:solidFill>
                <a:latin typeface="Open Sans" pitchFamily="34" charset="0"/>
                <a:ea typeface="Open Sans" pitchFamily="34" charset="-122"/>
                <a:cs typeface="Open Sans" pitchFamily="34" charset="-120"/>
              </a:rPr>
              <a:t> customers dominate at 3,116, forming the backbone of revenue.</a:t>
            </a:r>
            <a:endParaRPr lang="en-US" sz="550" dirty="0"/>
          </a:p>
          <a:p>
            <a:pPr marL="0" indent="0" algn="l">
              <a:lnSpc>
                <a:spcPct val="101000"/>
              </a:lnSpc>
              <a:buNone/>
            </a:pPr>
            <a:r>
              <a:rPr lang="en-US" sz="550" b="1" dirty="0">
                <a:solidFill>
                  <a:srgbClr val="333F70"/>
                </a:solidFill>
                <a:latin typeface="Open Sans Bold" pitchFamily="34" charset="0"/>
                <a:ea typeface="Open Sans Bold" pitchFamily="34" charset="-122"/>
                <a:cs typeface="Open Sans Bold" pitchFamily="34" charset="-120"/>
              </a:rPr>
              <a:t>Returning</a:t>
            </a:r>
            <a:r>
              <a:rPr lang="en-US" sz="550" dirty="0">
                <a:solidFill>
                  <a:srgbClr val="333F70"/>
                </a:solidFill>
                <a:latin typeface="Open Sans" pitchFamily="34" charset="0"/>
                <a:ea typeface="Open Sans" pitchFamily="34" charset="-122"/>
                <a:cs typeface="Open Sans" pitchFamily="34" charset="-120"/>
              </a:rPr>
              <a:t> customers (701) represent a key growth opportunity.</a:t>
            </a:r>
            <a:endParaRPr lang="en-US" sz="550" dirty="0"/>
          </a:p>
          <a:p>
            <a:pPr marL="0" indent="0" algn="l">
              <a:lnSpc>
                <a:spcPct val="101000"/>
              </a:lnSpc>
              <a:buNone/>
            </a:pPr>
            <a:r>
              <a:rPr lang="en-US" sz="550" b="1" dirty="0">
                <a:solidFill>
                  <a:srgbClr val="333F70"/>
                </a:solidFill>
                <a:latin typeface="Open Sans Bold" pitchFamily="34" charset="0"/>
                <a:ea typeface="Open Sans Bold" pitchFamily="34" charset="-122"/>
                <a:cs typeface="Open Sans Bold" pitchFamily="34" charset="-120"/>
              </a:rPr>
              <a:t>New</a:t>
            </a:r>
            <a:r>
              <a:rPr lang="en-US" sz="550" dirty="0">
                <a:solidFill>
                  <a:srgbClr val="333F70"/>
                </a:solidFill>
                <a:latin typeface="Open Sans" pitchFamily="34" charset="0"/>
                <a:ea typeface="Open Sans" pitchFamily="34" charset="-122"/>
                <a:cs typeface="Open Sans" pitchFamily="34" charset="-120"/>
              </a:rPr>
              <a:t> customers (83) need onboarding and retention focus.</a:t>
            </a:r>
            <a:endParaRPr lang="en-US" sz="550" dirty="0"/>
          </a:p>
          <a:p>
            <a:pPr marL="0" indent="0" algn="l">
              <a:lnSpc>
                <a:spcPct val="101000"/>
              </a:lnSpc>
              <a:buNone/>
            </a:pPr>
            <a:r>
              <a:rPr lang="en-US" sz="550" dirty="0">
                <a:solidFill>
                  <a:srgbClr val="333F70"/>
                </a:solidFill>
                <a:latin typeface="Open Sans" pitchFamily="34" charset="0"/>
                <a:ea typeface="Open Sans" pitchFamily="34" charset="-122"/>
                <a:cs typeface="Open Sans" pitchFamily="34" charset="-120"/>
              </a:rPr>
              <a:t>Repeat buyers with &gt;5 purchases: </a:t>
            </a:r>
            <a:r>
              <a:rPr lang="en-US" sz="550" b="1" dirty="0">
                <a:solidFill>
                  <a:srgbClr val="333F70"/>
                </a:solidFill>
                <a:latin typeface="Open Sans Bold" pitchFamily="34" charset="0"/>
                <a:ea typeface="Open Sans Bold" pitchFamily="34" charset="-122"/>
                <a:cs typeface="Open Sans Bold" pitchFamily="34" charset="-120"/>
              </a:rPr>
              <a:t>2,518</a:t>
            </a:r>
            <a:r>
              <a:rPr lang="en-US" sz="550" dirty="0">
                <a:solidFill>
                  <a:srgbClr val="333F70"/>
                </a:solidFill>
                <a:latin typeface="Open Sans" pitchFamily="34" charset="0"/>
                <a:ea typeface="Open Sans" pitchFamily="34" charset="-122"/>
                <a:cs typeface="Open Sans" pitchFamily="34" charset="-120"/>
              </a:rPr>
              <a:t> non-subscribers vs </a:t>
            </a:r>
            <a:r>
              <a:rPr lang="en-US" sz="550" b="1" dirty="0">
                <a:solidFill>
                  <a:srgbClr val="333F70"/>
                </a:solidFill>
                <a:latin typeface="Open Sans Bold" pitchFamily="34" charset="0"/>
                <a:ea typeface="Open Sans Bold" pitchFamily="34" charset="-122"/>
                <a:cs typeface="Open Sans Bold" pitchFamily="34" charset="-120"/>
              </a:rPr>
              <a:t>958</a:t>
            </a:r>
            <a:r>
              <a:rPr lang="en-US" sz="550" dirty="0">
                <a:solidFill>
                  <a:srgbClr val="333F70"/>
                </a:solidFill>
                <a:latin typeface="Open Sans" pitchFamily="34" charset="0"/>
                <a:ea typeface="Open Sans" pitchFamily="34" charset="-122"/>
                <a:cs typeface="Open Sans" pitchFamily="34" charset="-120"/>
              </a:rPr>
              <a:t> subscribers.</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679772"/>
            <a:ext cx="5375746"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Revenue by Age Group</a:t>
            </a:r>
            <a:endParaRPr lang="en-US" sz="2750" dirty="0"/>
          </a:p>
        </p:txBody>
      </p:sp>
      <p:pic>
        <p:nvPicPr>
          <p:cNvPr id="3" name="Image 0" descr="preencoded.png"/>
          <p:cNvPicPr>
            <a:picLocks noChangeAspect="1"/>
          </p:cNvPicPr>
          <p:nvPr/>
        </p:nvPicPr>
        <p:blipFill>
          <a:blip r:embed="rId3"/>
          <a:stretch>
            <a:fillRect/>
          </a:stretch>
        </p:blipFill>
        <p:spPr>
          <a:xfrm>
            <a:off x="496119" y="1494830"/>
            <a:ext cx="3902943" cy="2809354"/>
          </a:xfrm>
          <a:prstGeom prst="rect">
            <a:avLst/>
          </a:prstGeom>
        </p:spPr>
      </p:pic>
      <p:sp>
        <p:nvSpPr>
          <p:cNvPr id="4" name="Text 1"/>
          <p:cNvSpPr/>
          <p:nvPr/>
        </p:nvSpPr>
        <p:spPr>
          <a:xfrm>
            <a:off x="4749701" y="1477119"/>
            <a:ext cx="3461296" cy="221456"/>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Top Products per Category</a:t>
            </a:r>
            <a:endParaRPr lang="en-US" sz="1350" dirty="0"/>
          </a:p>
        </p:txBody>
      </p:sp>
      <p:sp>
        <p:nvSpPr>
          <p:cNvPr id="5" name="Text 2"/>
          <p:cNvSpPr/>
          <p:nvPr/>
        </p:nvSpPr>
        <p:spPr>
          <a:xfrm>
            <a:off x="4749701" y="1840334"/>
            <a:ext cx="390294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b="1" dirty="0">
                <a:solidFill>
                  <a:srgbClr val="333F70"/>
                </a:solidFill>
                <a:latin typeface="Open Sans Bold" pitchFamily="34" charset="0"/>
                <a:ea typeface="Open Sans Bold" pitchFamily="34" charset="-122"/>
                <a:cs typeface="Open Sans Bold" pitchFamily="34" charset="-120"/>
              </a:rPr>
              <a:t>Accessories:</a:t>
            </a:r>
            <a:r>
              <a:rPr lang="en-US" sz="1100" dirty="0">
                <a:solidFill>
                  <a:srgbClr val="333F70"/>
                </a:solidFill>
                <a:latin typeface="Open Sans" pitchFamily="34" charset="0"/>
                <a:ea typeface="Open Sans" pitchFamily="34" charset="-122"/>
                <a:cs typeface="Open Sans" pitchFamily="34" charset="-120"/>
              </a:rPr>
              <a:t> Jewelry (171), Sunglasses (161), Belt (161)</a:t>
            </a:r>
            <a:endParaRPr lang="en-US" sz="1100" dirty="0"/>
          </a:p>
          <a:p>
            <a:pPr marL="223520" indent="-223520" algn="l">
              <a:lnSpc>
                <a:spcPct val="133000"/>
              </a:lnSpc>
              <a:buSzPct val="100000"/>
              <a:buChar char="•"/>
            </a:pPr>
            <a:r>
              <a:rPr lang="en-US" sz="1100" b="1" dirty="0">
                <a:solidFill>
                  <a:srgbClr val="333F70"/>
                </a:solidFill>
                <a:latin typeface="Open Sans Bold" pitchFamily="34" charset="0"/>
                <a:ea typeface="Open Sans Bold" pitchFamily="34" charset="-122"/>
                <a:cs typeface="Open Sans Bold" pitchFamily="34" charset="-120"/>
              </a:rPr>
              <a:t>Clothing:</a:t>
            </a:r>
            <a:r>
              <a:rPr lang="en-US" sz="1100" dirty="0">
                <a:solidFill>
                  <a:srgbClr val="333F70"/>
                </a:solidFill>
                <a:latin typeface="Open Sans" pitchFamily="34" charset="0"/>
                <a:ea typeface="Open Sans" pitchFamily="34" charset="-122"/>
                <a:cs typeface="Open Sans" pitchFamily="34" charset="-120"/>
              </a:rPr>
              <a:t> Blouse (171), Pants (171), Shirt (169)</a:t>
            </a:r>
            <a:endParaRPr lang="en-US" sz="1100" dirty="0"/>
          </a:p>
          <a:p>
            <a:pPr marL="223520" indent="-223520" algn="l">
              <a:lnSpc>
                <a:spcPct val="133000"/>
              </a:lnSpc>
              <a:buSzPct val="100000"/>
              <a:buChar char="•"/>
            </a:pPr>
            <a:r>
              <a:rPr lang="en-US" sz="1100" b="1" dirty="0">
                <a:solidFill>
                  <a:srgbClr val="333F70"/>
                </a:solidFill>
                <a:latin typeface="Open Sans Bold" pitchFamily="34" charset="0"/>
                <a:ea typeface="Open Sans Bold" pitchFamily="34" charset="-122"/>
                <a:cs typeface="Open Sans Bold" pitchFamily="34" charset="-120"/>
              </a:rPr>
              <a:t>Footwear:</a:t>
            </a:r>
            <a:r>
              <a:rPr lang="en-US" sz="1100" dirty="0">
                <a:solidFill>
                  <a:srgbClr val="333F70"/>
                </a:solidFill>
                <a:latin typeface="Open Sans" pitchFamily="34" charset="0"/>
                <a:ea typeface="Open Sans" pitchFamily="34" charset="-122"/>
                <a:cs typeface="Open Sans" pitchFamily="34" charset="-120"/>
              </a:rPr>
              <a:t> Sandals (160), Shoes (150), Sneakers (145)</a:t>
            </a:r>
            <a:endParaRPr lang="en-US" sz="1100" dirty="0"/>
          </a:p>
          <a:p>
            <a:pPr marL="223520" indent="-223520" algn="l">
              <a:lnSpc>
                <a:spcPct val="133000"/>
              </a:lnSpc>
              <a:buSzPct val="100000"/>
              <a:buChar char="•"/>
            </a:pPr>
            <a:r>
              <a:rPr lang="en-US" sz="1100" b="1" dirty="0">
                <a:solidFill>
                  <a:srgbClr val="333F70"/>
                </a:solidFill>
                <a:latin typeface="Open Sans Bold" pitchFamily="34" charset="0"/>
                <a:ea typeface="Open Sans Bold" pitchFamily="34" charset="-122"/>
                <a:cs typeface="Open Sans Bold" pitchFamily="34" charset="-120"/>
              </a:rPr>
              <a:t>Outerwear:</a:t>
            </a:r>
            <a:r>
              <a:rPr lang="en-US" sz="1100" dirty="0">
                <a:solidFill>
                  <a:srgbClr val="333F70"/>
                </a:solidFill>
                <a:latin typeface="Open Sans" pitchFamily="34" charset="0"/>
                <a:ea typeface="Open Sans" pitchFamily="34" charset="-122"/>
                <a:cs typeface="Open Sans" pitchFamily="34" charset="-120"/>
              </a:rPr>
              <a:t> Jacket (163), Coat (161)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553789"/>
            <a:ext cx="2962126" cy="2962126"/>
          </a:xfrm>
          <a:prstGeom prst="rect">
            <a:avLst/>
          </a:prstGeom>
        </p:spPr>
      </p:pic>
      <p:sp>
        <p:nvSpPr>
          <p:cNvPr id="3" name="Text 0"/>
          <p:cNvSpPr/>
          <p:nvPr/>
        </p:nvSpPr>
        <p:spPr>
          <a:xfrm>
            <a:off x="496119" y="3665562"/>
            <a:ext cx="3516883" cy="216322"/>
          </a:xfrm>
          <a:prstGeom prst="rect">
            <a:avLst/>
          </a:prstGeom>
          <a:noFill/>
          <a:ln/>
        </p:spPr>
        <p:txBody>
          <a:bodyPr wrap="none" lIns="0" tIns="0" rIns="0" bIns="0" rtlCol="0" anchor="t"/>
          <a:lstStyle/>
          <a:p>
            <a:pPr marL="0" indent="0" algn="l">
              <a:lnSpc>
                <a:spcPct val="131000"/>
              </a:lnSpc>
              <a:buNone/>
            </a:pPr>
            <a:endParaRPr lang="en-US" sz="1050" dirty="0"/>
          </a:p>
        </p:txBody>
      </p:sp>
      <p:sp>
        <p:nvSpPr>
          <p:cNvPr id="4" name="Text 1"/>
          <p:cNvSpPr/>
          <p:nvPr/>
        </p:nvSpPr>
        <p:spPr>
          <a:xfrm>
            <a:off x="3895576" y="537121"/>
            <a:ext cx="4756993" cy="858292"/>
          </a:xfrm>
          <a:prstGeom prst="rect">
            <a:avLst/>
          </a:prstGeom>
          <a:noFill/>
          <a:ln/>
        </p:spPr>
        <p:txBody>
          <a:bodyPr wrap="square" lIns="0" tIns="0" rIns="0" bIns="0" rtlCol="0" anchor="t">
            <a:normAutofit/>
          </a:bodyPr>
          <a:lstStyle/>
          <a:p>
            <a:pPr marL="0" indent="0" algn="l">
              <a:lnSpc>
                <a:spcPct val="104000"/>
              </a:lnSpc>
              <a:buNone/>
            </a:pPr>
            <a:r>
              <a:rPr lang="en-US" sz="2700" b="1" dirty="0">
                <a:solidFill>
                  <a:srgbClr val="333F70"/>
                </a:solidFill>
                <a:latin typeface="Unbounded Bold" pitchFamily="34" charset="0"/>
                <a:ea typeface="Unbounded Bold" pitchFamily="34" charset="-122"/>
                <a:cs typeface="Unbounded Bold" pitchFamily="34" charset="-120"/>
              </a:rPr>
              <a:t>Business Recommendations</a:t>
            </a:r>
            <a:endParaRPr lang="en-US" sz="2700" dirty="0"/>
          </a:p>
        </p:txBody>
      </p:sp>
      <p:sp>
        <p:nvSpPr>
          <p:cNvPr id="5" name="Text 2"/>
          <p:cNvSpPr/>
          <p:nvPr/>
        </p:nvSpPr>
        <p:spPr>
          <a:xfrm>
            <a:off x="3895576" y="1528390"/>
            <a:ext cx="4756993"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333F70"/>
                </a:solidFill>
                <a:latin typeface="Open Sans" pitchFamily="34" charset="0"/>
                <a:ea typeface="Open Sans" pitchFamily="34" charset="-122"/>
                <a:cs typeface="Open Sans" pitchFamily="34" charset="-120"/>
              </a:rPr>
              <a:t>These recommendations prioritize the highest-impact opportunities across subscriptions, loyalty, pricing, merchandising, and targeting.</a:t>
            </a:r>
            <a:endParaRPr lang="en-US" sz="1050" dirty="0"/>
          </a:p>
        </p:txBody>
      </p:sp>
      <p:sp>
        <p:nvSpPr>
          <p:cNvPr id="6" name="Text 3"/>
          <p:cNvSpPr/>
          <p:nvPr/>
        </p:nvSpPr>
        <p:spPr>
          <a:xfrm>
            <a:off x="3895576" y="2080766"/>
            <a:ext cx="4756993" cy="2612082"/>
          </a:xfrm>
          <a:prstGeom prst="rect">
            <a:avLst/>
          </a:prstGeom>
          <a:noFill/>
          <a:ln/>
        </p:spPr>
        <p:txBody>
          <a:bodyPr wrap="square" lIns="0" tIns="0" rIns="0" bIns="0" rtlCol="0" anchor="t">
            <a:normAutofit/>
          </a:bodyPr>
          <a:lstStyle/>
          <a:p>
            <a:pPr marL="213360" indent="-213360" algn="l">
              <a:lnSpc>
                <a:spcPct val="131000"/>
              </a:lnSpc>
              <a:buSzPct val="100000"/>
              <a:buChar char="•"/>
            </a:pPr>
            <a:r>
              <a:rPr lang="en-US" sz="1050" b="1" dirty="0">
                <a:solidFill>
                  <a:srgbClr val="333F70"/>
                </a:solidFill>
                <a:latin typeface="Open Sans Bold" pitchFamily="34" charset="0"/>
                <a:ea typeface="Open Sans Bold" pitchFamily="34" charset="-122"/>
                <a:cs typeface="Open Sans Bold" pitchFamily="34" charset="-120"/>
              </a:rPr>
              <a:t>Boost subscriptions:</a:t>
            </a:r>
            <a:r>
              <a:rPr lang="en-US" sz="1050" dirty="0">
                <a:solidFill>
                  <a:srgbClr val="333F70"/>
                </a:solidFill>
                <a:latin typeface="Open Sans" pitchFamily="34" charset="0"/>
                <a:ea typeface="Open Sans" pitchFamily="34" charset="-122"/>
                <a:cs typeface="Open Sans" pitchFamily="34" charset="-120"/>
              </a:rPr>
              <a:t> Promote subscriber benefits at checkout, in emails, and in remarketing.</a:t>
            </a:r>
            <a:endParaRPr lang="en-US" sz="1050" dirty="0"/>
          </a:p>
          <a:p>
            <a:pPr marL="213360" indent="-213360" algn="l">
              <a:lnSpc>
                <a:spcPct val="131000"/>
              </a:lnSpc>
              <a:buSzPct val="100000"/>
              <a:buChar char="•"/>
            </a:pPr>
            <a:r>
              <a:rPr lang="en-US" sz="1050" b="1" dirty="0">
                <a:solidFill>
                  <a:srgbClr val="333F70"/>
                </a:solidFill>
                <a:latin typeface="Open Sans Bold" pitchFamily="34" charset="0"/>
                <a:ea typeface="Open Sans Bold" pitchFamily="34" charset="-122"/>
                <a:cs typeface="Open Sans Bold" pitchFamily="34" charset="-120"/>
              </a:rPr>
              <a:t>Loyalty programs:</a:t>
            </a:r>
            <a:r>
              <a:rPr lang="en-US" sz="1050" dirty="0">
                <a:solidFill>
                  <a:srgbClr val="333F70"/>
                </a:solidFill>
                <a:latin typeface="Open Sans" pitchFamily="34" charset="0"/>
                <a:ea typeface="Open Sans" pitchFamily="34" charset="-122"/>
                <a:cs typeface="Open Sans" pitchFamily="34" charset="-120"/>
              </a:rPr>
              <a:t> Add points, tiered perks, and personalized offers for repeat buyers.</a:t>
            </a:r>
            <a:endParaRPr lang="en-US" sz="1050" dirty="0"/>
          </a:p>
          <a:p>
            <a:pPr marL="213360" indent="-213360" algn="l">
              <a:lnSpc>
                <a:spcPct val="131000"/>
              </a:lnSpc>
              <a:buSzPct val="100000"/>
              <a:buChar char="•"/>
            </a:pPr>
            <a:r>
              <a:rPr lang="en-US" sz="1050" b="1" dirty="0">
                <a:solidFill>
                  <a:srgbClr val="333F70"/>
                </a:solidFill>
                <a:latin typeface="Open Sans Bold" pitchFamily="34" charset="0"/>
                <a:ea typeface="Open Sans Bold" pitchFamily="34" charset="-122"/>
                <a:cs typeface="Open Sans Bold" pitchFamily="34" charset="-120"/>
              </a:rPr>
              <a:t>Review discounts:</a:t>
            </a:r>
            <a:r>
              <a:rPr lang="en-US" sz="1050" dirty="0">
                <a:solidFill>
                  <a:srgbClr val="333F70"/>
                </a:solidFill>
                <a:latin typeface="Open Sans" pitchFamily="34" charset="0"/>
                <a:ea typeface="Open Sans" pitchFamily="34" charset="-122"/>
                <a:cs typeface="Open Sans" pitchFamily="34" charset="-120"/>
              </a:rPr>
              <a:t> Focus promotions on slow-moving items and protect margins on strong sellers.</a:t>
            </a:r>
            <a:endParaRPr lang="en-US" sz="1050" dirty="0"/>
          </a:p>
          <a:p>
            <a:pPr marL="213360" indent="-213360" algn="l">
              <a:lnSpc>
                <a:spcPct val="131000"/>
              </a:lnSpc>
              <a:buSzPct val="100000"/>
              <a:buChar char="•"/>
            </a:pPr>
            <a:r>
              <a:rPr lang="en-US" sz="1050" b="1" dirty="0">
                <a:solidFill>
                  <a:srgbClr val="333F70"/>
                </a:solidFill>
                <a:latin typeface="Open Sans Bold" pitchFamily="34" charset="0"/>
                <a:ea typeface="Open Sans Bold" pitchFamily="34" charset="-122"/>
                <a:cs typeface="Open Sans Bold" pitchFamily="34" charset="-120"/>
              </a:rPr>
              <a:t>Product positioning:</a:t>
            </a:r>
            <a:r>
              <a:rPr lang="en-US" sz="1050" dirty="0">
                <a:solidFill>
                  <a:srgbClr val="333F70"/>
                </a:solidFill>
                <a:latin typeface="Open Sans" pitchFamily="34" charset="0"/>
                <a:ea typeface="Open Sans" pitchFamily="34" charset="-122"/>
                <a:cs typeface="Open Sans" pitchFamily="34" charset="-120"/>
              </a:rPr>
              <a:t> Highlight top-rated products with reviews, benefits, and comparison points.</a:t>
            </a:r>
            <a:endParaRPr lang="en-US" sz="1050" dirty="0"/>
          </a:p>
          <a:p>
            <a:pPr marL="213360" indent="-213360" algn="l">
              <a:lnSpc>
                <a:spcPct val="131000"/>
              </a:lnSpc>
              <a:buSzPct val="100000"/>
              <a:buChar char="•"/>
            </a:pPr>
            <a:r>
              <a:rPr lang="en-US" sz="1050" b="1" dirty="0">
                <a:solidFill>
                  <a:srgbClr val="333F70"/>
                </a:solidFill>
                <a:latin typeface="Open Sans Bold" pitchFamily="34" charset="0"/>
                <a:ea typeface="Open Sans Bold" pitchFamily="34" charset="-122"/>
                <a:cs typeface="Open Sans Bold" pitchFamily="34" charset="-120"/>
              </a:rPr>
              <a:t>Targeted marketing:</a:t>
            </a:r>
            <a:r>
              <a:rPr lang="en-US" sz="1050" dirty="0">
                <a:solidFill>
                  <a:srgbClr val="333F70"/>
                </a:solidFill>
                <a:latin typeface="Open Sans" pitchFamily="34" charset="0"/>
                <a:ea typeface="Open Sans" pitchFamily="34" charset="-122"/>
                <a:cs typeface="Open Sans" pitchFamily="34" charset="-120"/>
              </a:rPr>
              <a:t> Tailor campaigns to high-revenue age groups and ex</a:t>
            </a:r>
            <a:endParaRPr lang="en-US" sz="1050" dirty="0"/>
          </a:p>
          <a:p>
            <a:pPr marL="213360" indent="-213360" algn="l">
              <a:lnSpc>
                <a:spcPct val="131000"/>
              </a:lnSpc>
              <a:buSzPct val="100000"/>
              <a:buChar char="•"/>
            </a:pPr>
            <a:r>
              <a:rPr lang="en-US" sz="1050" dirty="0">
                <a:solidFill>
                  <a:srgbClr val="333F70"/>
                </a:solidFill>
                <a:latin typeface="Open Sans" pitchFamily="34" charset="0"/>
                <a:ea typeface="Open Sans" pitchFamily="34" charset="-122"/>
                <a:cs typeface="Open Sans" pitchFamily="34" charset="-120"/>
              </a:rPr>
              <a:t>press-shipping users.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697</Words>
  <Application>Microsoft Office PowerPoint</Application>
  <PresentationFormat>On-screen Show (16:9)</PresentationFormat>
  <Paragraphs>128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Open Sans</vt:lpstr>
      <vt:lpstr>Open Sans Bold</vt:lpstr>
      <vt:lpstr>Unbounded Light</vt:lpstr>
      <vt:lpstr>Arial</vt:lpstr>
      <vt:lpstr>Consolas</vt:lpstr>
      <vt:lpstr>Unbounded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rajeev bharti</cp:lastModifiedBy>
  <cp:revision>2</cp:revision>
  <dcterms:created xsi:type="dcterms:W3CDTF">2026-07-02T19:53:48Z</dcterms:created>
  <dcterms:modified xsi:type="dcterms:W3CDTF">2026-07-03T06:11:54Z</dcterms:modified>
</cp:coreProperties>
</file>